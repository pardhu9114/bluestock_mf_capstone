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Monthly SIP Inflows (₹ Crore)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SIP Inflows (₹ Cr)</c:v>
                </c:pt>
              </c:strCache>
            </c:strRef>
          </c:tx>
          <c:spPr>
            <a:solidFill>
              <a:srgbClr val="06B6D4"/>
            </a:solidFill>
            <a:ln w="3810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Jan'22</c:v>
                  </c:pt>
                  <c:pt idx="1">
                    <c:v>Jul'22</c:v>
                  </c:pt>
                  <c:pt idx="2">
                    <c:v>Jan'23</c:v>
                  </c:pt>
                  <c:pt idx="3">
                    <c:v>Jul'23</c:v>
                  </c:pt>
                  <c:pt idx="4">
                    <c:v>Jan'24</c:v>
                  </c:pt>
                  <c:pt idx="5">
                    <c:v>Jul'24</c:v>
                  </c:pt>
                  <c:pt idx="6">
                    <c:v>Jan'25</c:v>
                  </c:pt>
                  <c:pt idx="7">
                    <c:v>Jul'25</c:v>
                  </c:pt>
                  <c:pt idx="8">
                    <c:v>Jan'26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12200</c:v>
                </c:pt>
                <c:pt idx="1">
                  <c:v>12800</c:v>
                </c:pt>
                <c:pt idx="2">
                  <c:v>13900</c:v>
                </c:pt>
                <c:pt idx="3">
                  <c:v>15400</c:v>
                </c:pt>
                <c:pt idx="4">
                  <c:v>17500</c:v>
                </c:pt>
                <c:pt idx="5">
                  <c:v>20800</c:v>
                </c:pt>
                <c:pt idx="6">
                  <c:v>24000</c:v>
                </c:pt>
                <c:pt idx="7">
                  <c:v>26500</c:v>
                </c:pt>
                <c:pt idx="8">
                  <c:v>30200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E5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Industry Folio Growth (Crore)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Folios (Crore)</c:v>
                </c:pt>
              </c:strCache>
            </c:strRef>
          </c:tx>
          <c:spPr>
            <a:solidFill>
              <a:srgbClr val="F59E0B"/>
            </a:solidFill>
            <a:ln w="38100" cap="flat">
              <a:solidFill>
                <a:srgbClr val="F59E0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Jan'22</c:v>
                  </c:pt>
                  <c:pt idx="1">
                    <c:v>Jul'22</c:v>
                  </c:pt>
                  <c:pt idx="2">
                    <c:v>Jan'23</c:v>
                  </c:pt>
                  <c:pt idx="3">
                    <c:v>Jul'23</c:v>
                  </c:pt>
                  <c:pt idx="4">
                    <c:v>Jan'24</c:v>
                  </c:pt>
                  <c:pt idx="5">
                    <c:v>Jul'24</c:v>
                  </c:pt>
                  <c:pt idx="6">
                    <c:v>Jan'25</c:v>
                  </c:pt>
                  <c:pt idx="7">
                    <c:v>Jul'25</c:v>
                  </c:pt>
                  <c:pt idx="8">
                    <c:v>Jan'26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13.5</c:v>
                </c:pt>
                <c:pt idx="1">
                  <c:v>14.1</c:v>
                </c:pt>
                <c:pt idx="2">
                  <c:v>14.8</c:v>
                </c:pt>
                <c:pt idx="3">
                  <c:v>16.2</c:v>
                </c:pt>
                <c:pt idx="4">
                  <c:v>18.1</c:v>
                </c:pt>
                <c:pt idx="5">
                  <c:v>20.6</c:v>
                </c:pt>
                <c:pt idx="6">
                  <c:v>22.4</c:v>
                </c:pt>
                <c:pt idx="7">
                  <c:v>24</c:v>
                </c:pt>
                <c:pt idx="8">
                  <c:v>25.9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E5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34155"/>
                </a:solidFill>
                <a:latin typeface="Arial"/>
              </a:rPr>
              <a:t>Investor Age Distribution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Age Groups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bubble3D val="0"/>
            <c:spPr>
              <a:solidFill>
                <a:srgbClr val="0D1B3E"/>
              </a:solidFill>
              <a:effectLst/>
            </c:spPr>
          </c:dPt>
          <c:dPt>
            <c:idx val="2"/>
            <c:bubble3D val="0"/>
            <c:spPr>
              <a:solidFill>
                <a:srgbClr val="F59E0B"/>
              </a:solidFill>
              <a:effectLst/>
            </c:spPr>
          </c:dPt>
          <c:dPt>
            <c:idx val="3"/>
            <c:bubble3D val="0"/>
            <c:spPr>
              <a:solidFill>
                <a:srgbClr val="7C3AED"/>
              </a:solidFill>
              <a:effectLst/>
            </c:spPr>
          </c:dPt>
          <c:dPt>
            <c:idx val="4"/>
            <c:bubble3D val="0"/>
            <c:spPr>
              <a:solidFill>
                <a:srgbClr val="05966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26-35</c:v>
                </c:pt>
                <c:pt idx="1">
                  <c:v>36-45</c:v>
                </c:pt>
                <c:pt idx="2">
                  <c:v>18-25</c:v>
                </c:pt>
                <c:pt idx="3">
                  <c:v>46-55</c:v>
                </c:pt>
                <c:pt idx="4">
                  <c:v>56+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41.1</c:v>
                </c:pt>
                <c:pt idx="1">
                  <c:v>24.9</c:v>
                </c:pt>
                <c:pt idx="2">
                  <c:v>15</c:v>
                </c:pt>
                <c:pt idx="3">
                  <c:v>11.5</c:v>
                </c:pt>
                <c:pt idx="4">
                  <c:v>7.5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34155"/>
                </a:solidFill>
                <a:latin typeface="Arial"/>
              </a:rPr>
              <a:t>T30 vs B30 City Participation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Cities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T30 Cities</c:v>
                </c:pt>
                <c:pt idx="1">
                  <c:v>B30 Cities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66.3</c:v>
                </c:pt>
                <c:pt idx="1">
                  <c:v>33.7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34155"/>
                </a:solidFill>
                <a:latin typeface="Arial"/>
              </a:rPr>
              <a:t>Equity vs Debt Folios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Equity Folios (Cr)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9.2</c:v>
                </c:pt>
                <c:pt idx="1">
                  <c:v>10.5</c:v>
                </c:pt>
                <c:pt idx="2">
                  <c:v>12.8</c:v>
                </c:pt>
                <c:pt idx="3">
                  <c:v>15.6</c:v>
                </c:pt>
                <c:pt idx="4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Debt Folios (Cr)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</c:v>
                </c:pt>
                <c:pt idx="1">
                  <c:v>2.2</c:v>
                </c:pt>
                <c:pt idx="2">
                  <c:v>2.5</c:v>
                </c:pt>
                <c:pt idx="3">
                  <c:v>2.8</c:v>
                </c:pt>
                <c:pt idx="4">
                  <c:v>3.1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FFFFF"/>
                </a:solidFill>
                <a:latin typeface="Arial"/>
              </a:rPr>
              <a:t>Top 10 Funds by CAGR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CAGR (%)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120505</c:v>
                  </c:pt>
                  <c:pt idx="1">
                    <c:v>119598</c:v>
                  </c:pt>
                  <c:pt idx="2">
                    <c:v>149324</c:v>
                  </c:pt>
                  <c:pt idx="3">
                    <c:v>148569</c:v>
                  </c:pt>
                  <c:pt idx="4">
                    <c:v>148567</c:v>
                  </c:pt>
                  <c:pt idx="5">
                    <c:v>120843</c:v>
                  </c:pt>
                  <c:pt idx="6">
                    <c:v>100033</c:v>
                  </c:pt>
                  <c:pt idx="7">
                    <c:v>149323</c:v>
                  </c:pt>
                  <c:pt idx="8">
                    <c:v>119094</c:v>
                  </c:pt>
                  <c:pt idx="9">
                    <c:v>119551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32.83</c:v>
                </c:pt>
                <c:pt idx="1">
                  <c:v>32.42</c:v>
                </c:pt>
                <c:pt idx="2">
                  <c:v>32.29</c:v>
                </c:pt>
                <c:pt idx="3">
                  <c:v>31.95</c:v>
                </c:pt>
                <c:pt idx="4">
                  <c:v>30.97</c:v>
                </c:pt>
                <c:pt idx="5">
                  <c:v>30.91</c:v>
                </c:pt>
                <c:pt idx="6">
                  <c:v>30.12</c:v>
                </c:pt>
                <c:pt idx="7">
                  <c:v>29.58</c:v>
                </c:pt>
                <c:pt idx="8">
                  <c:v>28.21</c:v>
                </c:pt>
                <c:pt idx="9">
                  <c:v>25.8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A2E5A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34155"/>
                </a:solidFill>
                <a:latin typeface="Arial"/>
              </a:rPr>
              <a:t>Top 10 Funds — Sharpe Ratio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Sharpe Ratio</c:v>
                </c:pt>
              </c:strCache>
            </c:strRef>
          </c:tx>
          <c:spPr>
            <a:solidFill>
              <a:srgbClr val="0891B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148567</c:v>
                  </c:pt>
                  <c:pt idx="1">
                    <c:v>148569</c:v>
                  </c:pt>
                  <c:pt idx="2">
                    <c:v>120843</c:v>
                  </c:pt>
                  <c:pt idx="3">
                    <c:v>149323</c:v>
                  </c:pt>
                  <c:pt idx="4">
                    <c:v>119551</c:v>
                  </c:pt>
                  <c:pt idx="5">
                    <c:v>120504</c:v>
                  </c:pt>
                  <c:pt idx="6">
                    <c:v>118632</c:v>
                  </c:pt>
                  <c:pt idx="7">
                    <c:v>101206</c:v>
                  </c:pt>
                  <c:pt idx="8">
                    <c:v>100033</c:v>
                  </c:pt>
                  <c:pt idx="9">
                    <c:v>120505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1.42</c:v>
                </c:pt>
                <c:pt idx="1">
                  <c:v>1.22</c:v>
                </c:pt>
                <c:pt idx="2">
                  <c:v>1.19</c:v>
                </c:pt>
                <c:pt idx="3">
                  <c:v>1.15</c:v>
                </c:pt>
                <c:pt idx="4">
                  <c:v>1.12</c:v>
                </c:pt>
                <c:pt idx="5">
                  <c:v>1.1</c:v>
                </c:pt>
                <c:pt idx="6">
                  <c:v>1.09</c:v>
                </c:pt>
                <c:pt idx="7">
                  <c:v>1.03</c:v>
                </c:pt>
                <c:pt idx="8">
                  <c:v>1.1</c:v>
                </c:pt>
                <c:pt idx="9">
                  <c:v>1.09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33415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334155"/>
                </a:solidFill>
                <a:latin typeface="Arial"/>
              </a:rPr>
              <a:t>Top 10 Funds — Sortino Ratio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Sortino Ratio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33415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148567</c:v>
                  </c:pt>
                  <c:pt idx="1">
                    <c:v>148569</c:v>
                  </c:pt>
                  <c:pt idx="2">
                    <c:v>120843</c:v>
                  </c:pt>
                  <c:pt idx="3">
                    <c:v>149323</c:v>
                  </c:pt>
                  <c:pt idx="4">
                    <c:v>100033</c:v>
                  </c:pt>
                  <c:pt idx="5">
                    <c:v>120505</c:v>
                  </c:pt>
                  <c:pt idx="6">
                    <c:v>101206</c:v>
                  </c:pt>
                  <c:pt idx="7">
                    <c:v>118632</c:v>
                  </c:pt>
                  <c:pt idx="8">
                    <c:v>119551</c:v>
                  </c:pt>
                  <c:pt idx="9">
                    <c:v>120504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2.38</c:v>
                </c:pt>
                <c:pt idx="1">
                  <c:v>2.31</c:v>
                </c:pt>
                <c:pt idx="2">
                  <c:v>2.05</c:v>
                </c:pt>
                <c:pt idx="3">
                  <c:v>1.92</c:v>
                </c:pt>
                <c:pt idx="4">
                  <c:v>1.82</c:v>
                </c:pt>
                <c:pt idx="5">
                  <c:v>1.81</c:v>
                </c:pt>
                <c:pt idx="6">
                  <c:v>1.8</c:v>
                </c:pt>
                <c:pt idx="7">
                  <c:v>1.84</c:v>
                </c:pt>
                <c:pt idx="8">
                  <c:v>1.81</c:v>
                </c:pt>
                <c:pt idx="9">
                  <c:v>1.82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33415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900" b="0" i="0" u="none" strike="noStrike">
                <a:solidFill>
                  <a:srgbClr val="FFFFFF"/>
                </a:solidFill>
                <a:latin typeface="Arial"/>
              </a:rPr>
              <a:t>Industry AUM Trend (₹ Lakh Crore)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AUM Trend</c:v>
                </c:pt>
              </c:strCache>
            </c:strRef>
          </c:tx>
          <c:spPr>
            <a:solidFill>
              <a:srgbClr val="06B6D4"/>
            </a:solidFill>
            <a:ln w="25400" cap="flat">
              <a:solidFill>
                <a:srgbClr val="06B6D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5.2</c:v>
                </c:pt>
                <c:pt idx="1">
                  <c:v>7.8</c:v>
                </c:pt>
                <c:pt idx="2">
                  <c:v>10.1</c:v>
                </c:pt>
                <c:pt idx="3">
                  <c:v>12.5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900" b="0" i="0" u="none" strike="noStrike">
                <a:solidFill>
                  <a:srgbClr val="FFFFFF"/>
                </a:solidFill>
                <a:latin typeface="Arial"/>
              </a:rPr>
              <a:t>Top 5 Categories by Net Inflow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Top 5 by Net Inflow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Large Cap</c:v>
                  </c:pt>
                  <c:pt idx="1">
                    <c:v>Mid Cap</c:v>
                  </c:pt>
                  <c:pt idx="2">
                    <c:v>Flexi Cap</c:v>
                  </c:pt>
                  <c:pt idx="3">
                    <c:v>Small Cap</c:v>
                  </c:pt>
                  <c:pt idx="4">
                    <c:v>ELSS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6400</c:v>
                </c:pt>
                <c:pt idx="1">
                  <c:v>5100</c:v>
                </c:pt>
                <c:pt idx="2">
                  <c:v>4800</c:v>
                </c:pt>
                <c:pt idx="3">
                  <c:v>3900</c:v>
                </c:pt>
                <c:pt idx="4">
                  <c:v>1800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900" b="0" i="0" u="none" strike="noStrike">
                <a:solidFill>
                  <a:srgbClr val="FFFFFF"/>
                </a:solidFill>
                <a:latin typeface="Arial"/>
              </a:rPr>
              <a:t>Return vs Risk (Volatility)</a:t>
            </a:r>
          </a:p>
        </c:rich>
      </c:tx>
      <c:layout/>
      <c:overlay val="0"/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rgbClr val="06B6D4"/>
            </a:solidFill>
            <a:ln w="25400" cap="flat">
              <a:solidFill>
                <a:srgbClr val="06B6D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B6D4"/>
              </a:solidFill>
              <a:ln w="9525" cap="flat">
                <a:solidFill>
                  <a:srgbClr val="06B6D4"/>
                </a:solidFill>
                <a:prstDash val="solid"/>
                <a:round/>
              </a:ln>
              <a:effectLst/>
            </c:spPr>
          </c:marker>
          <c:xVal>
            <c:numRef>
              <c:f>Sheet1!$A$2:$A$11</c:f>
              <c:numCache>
                <c:formatCode>General</c:formatCode>
                <c:ptCount val="10"/>
                <c:pt idx="0">
                  <c:v>12</c:v>
                </c:pt>
                <c:pt idx="1">
                  <c:v>15</c:v>
                </c:pt>
                <c:pt idx="2">
                  <c:v>18</c:v>
                </c:pt>
                <c:pt idx="3">
                  <c:v>22</c:v>
                </c:pt>
                <c:pt idx="4">
                  <c:v>25</c:v>
                </c:pt>
                <c:pt idx="5">
                  <c:v>28</c:v>
                </c:pt>
                <c:pt idx="6">
                  <c:v>30</c:v>
                </c:pt>
                <c:pt idx="7">
                  <c:v>14</c:v>
                </c:pt>
                <c:pt idx="8">
                  <c:v>20</c:v>
                </c:pt>
                <c:pt idx="9">
                  <c:v>24</c:v>
                </c:pt>
              </c:numCache>
            </c:numRef>
          </c:xVal>
          <c:yVal>
            <c:numRef>
              <c:f>Sheet1!$B$2:$B$11</c:f>
              <c:numCache>
                <c:formatCode>General</c:formatCode>
                <c:ptCount val="10"/>
                <c:pt idx="0">
                  <c:v>14</c:v>
                </c:pt>
                <c:pt idx="1">
                  <c:v>22</c:v>
                </c:pt>
                <c:pt idx="2">
                  <c:v>28</c:v>
                </c:pt>
                <c:pt idx="3">
                  <c:v>31</c:v>
                </c:pt>
                <c:pt idx="4">
                  <c:v>29</c:v>
                </c:pt>
                <c:pt idx="5">
                  <c:v>32</c:v>
                </c:pt>
                <c:pt idx="6">
                  <c:v>33</c:v>
                </c:pt>
                <c:pt idx="7">
                  <c:v>18</c:v>
                </c:pt>
                <c:pt idx="8">
                  <c:v>26</c:v>
                </c:pt>
                <c:pt idx="9">
                  <c:v>30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508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00" b="0" i="0" u="none" strike="noStrike">
                <a:solidFill>
                  <a:srgbClr val="FFFFFF"/>
                </a:solidFill>
                <a:latin typeface="Arial"/>
              </a:defRPr>
            </a:pPr>
            <a:r>
              <a:rPr sz="900" b="0" i="0" u="none" strike="noStrike">
                <a:solidFill>
                  <a:srgbClr val="FFFFFF"/>
                </a:solidFill>
                <a:latin typeface="Arial"/>
              </a:rPr>
              <a:t>Avg Investment by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Investment (₹)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26-35</c:v>
                  </c:pt>
                  <c:pt idx="1">
                    <c:v>36-45</c:v>
                  </c:pt>
                  <c:pt idx="2">
                    <c:v>18-25</c:v>
                  </c:pt>
                  <c:pt idx="3">
                    <c:v>46-55</c:v>
                  </c:pt>
                  <c:pt idx="4">
                    <c:v>56+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310000</c:v>
                </c:pt>
                <c:pt idx="1">
                  <c:v>295000</c:v>
                </c:pt>
                <c:pt idx="2">
                  <c:v>270000</c:v>
                </c:pt>
                <c:pt idx="3">
                  <c:v>285000</c:v>
                </c:pt>
                <c:pt idx="4">
                  <c:v>280000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5080" cap="flat">
              <a:solidFill>
                <a:srgbClr val="1E293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891B2"/>
              </a:solidFill>
              <a:effectLst/>
            </c:spPr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SIP</c:v>
                </c:pt>
                <c:pt idx="1">
                  <c:v>Lumpsum</c:v>
                </c:pt>
                <c:pt idx="2">
                  <c:v>Redemption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63.5</c:v>
                </c:pt>
                <c:pt idx="1">
                  <c:v>21.4</c:v>
                </c:pt>
                <c:pt idx="2">
                  <c:v>15.1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Pardhu9114/bluestock_mf_capsto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4" Type="http://schemas.openxmlformats.org/officeDocument/2006/relationships/image" Target="../media/image-6-1.png"/><Relationship Id="rId5" Type="http://schemas.openxmlformats.org/officeDocument/2006/relationships/image" Target="../media/image-6-2.png"/><Relationship Id="rId6" Type="http://schemas.openxmlformats.org/officeDocument/2006/relationships/image" Target="../media/image-6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chart" Target="/ppt/charts/chart8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.xml"/><Relationship Id="rId2" Type="http://schemas.openxmlformats.org/officeDocument/2006/relationships/chart" Target="/ppt/charts/chart10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chart" Target="/ppt/charts/chart1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4114800" cy="4114800"/>
          </a:xfrm>
          <a:prstGeom prst="ellipse">
            <a:avLst/>
          </a:prstGeom>
          <a:solidFill>
            <a:srgbClr val="0891B2">
              <a:alpha val="25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06B6D4">
              <a:alpha val="2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45720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PROJECT REPORT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77724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Bluestock Mutual Fund</a:t>
            </a:r>
            <a:endParaRPr lang="en-US" sz="4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Platform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09728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1089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Financial Analytics | ETL · EDA · Risk Metrics · Power BI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976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 by: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V. Sai Pardhu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Bluestock Fintech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11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u="sng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github.com/Pardhu9114/bluestock_mf_capstone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2344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fund data exists in silos — raw NAV files, AUM tables, SIP records, and investor transactions with no unified analytical layer.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reports lack risk context, making it impossible to compare funds on risk-adjusted terms or understand investor behavior at scale.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hours on manual preprocessing instead of deriving insights.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0" y="12344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OBJECTIVES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67335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166360" y="162763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automated ETL pipeline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194560"/>
            <a:ext cx="292608" cy="29260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2148840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 comprehensive EDA</a:t>
            </a:r>
            <a:endParaRPr lang="en-US" sz="12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715768"/>
            <a:ext cx="292608" cy="29260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166360" y="2670048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CAGR, Sharpe, Sortino &amp; Drawdown</a:t>
            </a:r>
            <a:endParaRPr lang="en-US" sz="12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236976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166360" y="3191256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advanced risk analytics</a:t>
            </a:r>
            <a:endParaRPr lang="en-US" sz="12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758184"/>
            <a:ext cx="292608" cy="29260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166360" y="3712464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investor demographics &amp; geography</a:t>
            </a:r>
            <a:endParaRPr lang="en-US" sz="12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279392"/>
            <a:ext cx="292608" cy="292608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5166360" y="4233672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interactive Power BI dashboard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5836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Integrated Datasets Covering the Full Mutual Fund Ecosystem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28016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38988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137160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Master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29768" y="178308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Scheme IDs, categories, fund houses, AMFI codes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64408" y="128016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74136" y="138988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74136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813048" y="137160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History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74136" y="178308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per-unit values for performance &amp; risk calc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08776" y="128016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18504" y="138988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18504" y="13898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57416" y="137160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 Data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18504" y="178308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 by fund house — confidence &amp; growth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51460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29768" y="26243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260604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29768" y="301752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participation &amp; systematic investment trends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64408" y="251460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74136" y="26243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74136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813048" y="260604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Inflows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374136" y="301752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/ Debt / Hybrid capital flow analysis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08776" y="251460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18504" y="262432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26243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757416" y="260604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Folio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318504" y="301752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account counts — market penetration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37490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29768" y="385876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9768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8680" y="384048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Transactions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9768" y="425196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Purchase, redemption, SIP transaction patterns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264408" y="37490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374136" y="385876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374136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3813048" y="384048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Holdings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3374136" y="425196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 allocation &amp; diversification analysis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08776" y="374904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318504" y="3858768"/>
            <a:ext cx="347472" cy="34747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318504" y="3858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57416" y="3840480"/>
            <a:ext cx="208483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Indices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318504" y="4251960"/>
            <a:ext cx="252374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NIFTY100 reference for alpha &amp; relative perf.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PIPELINE ARCHITECTURE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463040" cy="3108960"/>
          </a:xfrm>
          <a:prstGeom prst="roundRect">
            <a:avLst>
              <a:gd name="adj" fmla="val 7500"/>
            </a:avLst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188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691640"/>
            <a:ext cx="109728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828800"/>
            <a:ext cx="13167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CSV datasets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DataFrames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10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0512" y="2377440"/>
            <a:ext cx="219456" cy="219456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057400" y="1097280"/>
            <a:ext cx="1463040" cy="3108960"/>
          </a:xfrm>
          <a:prstGeom prst="roundRect">
            <a:avLst>
              <a:gd name="adj" fmla="val 75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057400" y="1188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2240280" y="1691640"/>
            <a:ext cx="109728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130552" y="1828800"/>
            <a:ext cx="13167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 &amp; clean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standardisation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2377440"/>
            <a:ext cx="219456" cy="21945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794760" y="1097280"/>
            <a:ext cx="1463040" cy="310896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794760" y="1188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3977640" y="1691640"/>
            <a:ext cx="109728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867912" y="1828800"/>
            <a:ext cx="13167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checks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refs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 tests</a:t>
            </a:r>
            <a:endParaRPr lang="en-US" sz="10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5232" y="2377440"/>
            <a:ext cx="219456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5532120" y="1097280"/>
            <a:ext cx="1463040" cy="3108960"/>
          </a:xfrm>
          <a:prstGeom prst="roundRect">
            <a:avLst>
              <a:gd name="adj" fmla="val 7500"/>
            </a:avLst>
          </a:prstGeom>
          <a:solidFill>
            <a:srgbClr val="059669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5532120" y="1188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715000" y="1691640"/>
            <a:ext cx="109728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5605272" y="1828800"/>
            <a:ext cx="13167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CSVs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Centralised store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2377440"/>
            <a:ext cx="219456" cy="219456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269480" y="1097280"/>
            <a:ext cx="1463040" cy="3108960"/>
          </a:xfrm>
          <a:prstGeom prst="roundRect">
            <a:avLst>
              <a:gd name="adj" fmla="val 7500"/>
            </a:avLst>
          </a:prstGeom>
          <a:solidFill>
            <a:srgbClr val="DC262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7269480" y="118872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7452360" y="1691640"/>
            <a:ext cx="109728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342632" y="1828800"/>
            <a:ext cx="1316736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scripts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connector</a:t>
            </a:r>
            <a:endParaRPr lang="en-US" sz="1000" dirty="0"/>
          </a:p>
          <a:p>
            <a:pPr algn="ctr"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dashboard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BENEFITS</a:t>
            </a:r>
            <a:endParaRPr lang="en-US" sz="9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663440"/>
            <a:ext cx="201168" cy="201168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621792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preprocessing</a:t>
            </a:r>
            <a:endParaRPr lang="en-US" sz="11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" y="4663440"/>
            <a:ext cx="201168" cy="201168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816352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errors</a:t>
            </a:r>
            <a:endParaRPr lang="en-US" sz="11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4663440"/>
            <a:ext cx="201168" cy="201168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010912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workflows</a:t>
            </a:r>
            <a:endParaRPr lang="en-US" sz="11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9440" y="4663440"/>
            <a:ext cx="201168" cy="201168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205472" y="46177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results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·  Part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Growth, Investor Participation &amp; SIP Trends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1097280"/>
          <a:ext cx="41148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1605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365760" y="41879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₹30,200 Cr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365760" y="4572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 (Jan'26)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2542032" y="41605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2542032" y="41879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+148%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2542032" y="4572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Growth (4 yrs)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4718304" y="41605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718304" y="41879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25.9 Cr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18304" y="4572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Folios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894576" y="4160520"/>
            <a:ext cx="1920240" cy="777240"/>
          </a:xfrm>
          <a:prstGeom prst="roundRect">
            <a:avLst>
              <a:gd name="adj" fmla="val 11765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6894576" y="418795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~9 Cr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894576" y="45720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SIP Accounts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 ·  Part 2 of 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Demographics, Geography &amp; Fund Category Preference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274320" y="1005840"/>
          <a:ext cx="29260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291840" y="1005840"/>
          <a:ext cx="256032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5943600" y="1005840"/>
          <a:ext cx="29260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" y="3794760"/>
            <a:ext cx="201168" cy="20116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94360" y="3749040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cohort drives 41% of investment volume — target for digital onboarding campaigns</a:t>
            </a:r>
            <a:endParaRPr lang="en-US" sz="11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4224528"/>
            <a:ext cx="201168" cy="20116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594360" y="4178808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B30 cities contribute 33.7% of SIPs — significant untapped growth outside top metros</a:t>
            </a:r>
            <a:endParaRPr lang="en-US" sz="11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040" y="4654296"/>
            <a:ext cx="201168" cy="2011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594360" y="4608576"/>
            <a:ext cx="8321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funds hold 85%+ folio share, confirming strong retail appetite for growth products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 ·  Part 1 of 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CAGR, Annualised Returns &amp; Benchmark Comparison</a:t>
            </a:r>
            <a:endParaRPr lang="en-US" sz="2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9728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097280"/>
            <a:ext cx="2880360" cy="868680"/>
          </a:xfrm>
          <a:prstGeom prst="roundRect">
            <a:avLst>
              <a:gd name="adj" fmla="val 10526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035040" y="1143000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32.83%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6035040" y="1517904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CAGR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035040" y="173736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AMFI Code 120505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943600" y="2121408"/>
            <a:ext cx="2880360" cy="868680"/>
          </a:xfrm>
          <a:prstGeom prst="roundRect">
            <a:avLst>
              <a:gd name="adj" fmla="val 10526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2167128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NIFTY100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035040" y="2542032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035040" y="2761488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schemes outperformed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943600" y="3145536"/>
            <a:ext cx="2880360" cy="868680"/>
          </a:xfrm>
          <a:prstGeom prst="roundRect">
            <a:avLst>
              <a:gd name="adj" fmla="val 10526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035040" y="3191256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15-day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035040" y="356616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Observation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035040" y="378561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return windows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943600" y="4169664"/>
            <a:ext cx="2880360" cy="868680"/>
          </a:xfrm>
          <a:prstGeom prst="roundRect">
            <a:avLst>
              <a:gd name="adj" fmla="val 10526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35040" y="4215384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~10×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6035040" y="45902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Wealth Created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35040" y="48097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compounding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 ·  Part 2 of 2</a:t>
            </a:r>
            <a:endParaRPr lang="en-US" sz="11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00584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663440" y="1005840"/>
          <a:ext cx="411480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3749040"/>
            <a:ext cx="4069080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3"/>
          <p:cNvSpPr/>
          <p:nvPr/>
        </p:nvSpPr>
        <p:spPr>
          <a:xfrm>
            <a:off x="475488" y="379476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Ratio: 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481328" y="379476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Excess return per unit of total risk. Higher = more efficient capital use.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754880" y="3749040"/>
            <a:ext cx="4069080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4864608" y="3794760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Sortino Ratio: 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870448" y="3794760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Penalises downside risk only. More investor-centric than Sharpe.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65760" y="4370832"/>
            <a:ext cx="4069080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75488" y="441655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Drawdown: 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1481328" y="441655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peak-to-trough loss. Diversified portfolios showed lower drawdowns.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4370832"/>
            <a:ext cx="4069080" cy="530352"/>
          </a:xfrm>
          <a:prstGeom prst="roundRect">
            <a:avLst>
              <a:gd name="adj" fmla="val 13793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4864608" y="4416552"/>
            <a:ext cx="10972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/ Beta: 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870448" y="4416552"/>
            <a:ext cx="2834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= outperformance vs benchmark. Beta = market sensitivity.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 ·  Industry Overview &amp; SIP Trends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Business Intelligence Platform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8503920" cy="3566160"/>
          </a:xfrm>
          <a:prstGeom prst="roundRect">
            <a:avLst>
              <a:gd name="adj" fmla="val 3590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8503920" cy="365760"/>
          </a:xfrm>
          <a:prstGeom prst="rect">
            <a:avLst/>
          </a:prstGeom>
          <a:solidFill>
            <a:srgbClr val="1A2E5A"/>
          </a:solidFill>
          <a:ln w="12700">
            <a:solidFill>
              <a:srgbClr val="1A2E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2471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View  |  Fund Performance  |  Investor Analytics  |  SIP &amp; Market Trends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1581912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1A2E5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184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₹12.50 L Cr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9659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AUM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581912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1A2E5A"/>
          </a:solidFill>
          <a:ln/>
        </p:spPr>
      </p:sp>
      <p:sp>
        <p:nvSpPr>
          <p:cNvPr id="11" name="Text 9"/>
          <p:cNvSpPr/>
          <p:nvPr/>
        </p:nvSpPr>
        <p:spPr>
          <a:xfrm>
            <a:off x="2560320" y="16184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31K Cr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560320" y="19659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 Inflows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581912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1A2E5A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6184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26.12 Cr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663440" y="19659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Folios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766560" y="1581912"/>
            <a:ext cx="1874520" cy="731520"/>
          </a:xfrm>
          <a:prstGeom prst="roundRect">
            <a:avLst>
              <a:gd name="adj" fmla="val 10000"/>
            </a:avLst>
          </a:prstGeom>
          <a:solidFill>
            <a:srgbClr val="1A2E5A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1618488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1965960"/>
            <a:ext cx="1874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Schemes</a:t>
            </a:r>
            <a:endParaRPr lang="en-US" sz="9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457200" y="242316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0" name="Chart 1" descr=""/>
          <p:cNvGraphicFramePr/>
          <p:nvPr/>
        </p:nvGraphicFramePr>
        <p:xfrm>
          <a:off x="4754880" y="2423160"/>
          <a:ext cx="38404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Text 17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Feature: 4 interactive pages · Dynamic slicers by fund, category, time · KPI cards · Drill-through enabled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 ·  Fund Performance &amp; Investor Analytics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PERFORMANCE DASHBOARD</a:t>
            </a:r>
            <a:endParaRPr lang="en-US" sz="85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11480" y="1463040"/>
          <a:ext cx="39319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3749040"/>
          <a:ext cx="3931920" cy="868680"/>
        </p:xfrm>
        <a:graphic>
          <a:graphicData uri="http://schemas.openxmlformats.org/drawingml/2006/table">
            <a:tbl>
              <a:tblPr/>
              <a:tblGrid>
                <a:gridCol w="1965960"/>
                <a:gridCol w="1965960"/>
              </a:tblGrid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Fund 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6B6D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SBI Small Cap – Regular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ICICI Pru Midcap – Regular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 Small Cap – Regular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HDFC Mid-Cap Opp – Regular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754880" y="1005840"/>
            <a:ext cx="4114800" cy="3749040"/>
          </a:xfrm>
          <a:prstGeom prst="roundRect">
            <a:avLst>
              <a:gd name="adj" fmla="val 2927"/>
            </a:avLst>
          </a:prstGeom>
          <a:solidFill>
            <a:srgbClr val="0F172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892040" y="1097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ANALYTICS DASHBOARD</a:t>
            </a:r>
            <a:endParaRPr lang="en-US" sz="85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4800600" y="1463040"/>
          <a:ext cx="3931920" cy="2194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1" name="Chart 2" descr=""/>
          <p:cNvGraphicFramePr/>
          <p:nvPr/>
        </p:nvGraphicFramePr>
        <p:xfrm>
          <a:off x="4800600" y="3703320"/>
          <a:ext cx="3931920" cy="914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48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 Evidence-Backed Insights from the Analytics Platform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4206240" cy="896112"/>
          </a:xfrm>
          <a:prstGeom prst="roundRect">
            <a:avLst>
              <a:gd name="adj" fmla="val 10204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20700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0700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13816" y="11704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 &amp; Growth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long-term NAV appreciation across most schemes — compounding drives ~10× wealth creation.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097280"/>
            <a:ext cx="4206240" cy="896112"/>
          </a:xfrm>
          <a:prstGeom prst="roundRect">
            <a:avLst>
              <a:gd name="adj" fmla="val 10204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20700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120700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294376" y="117043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892040" y="144475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 AUM growth across top fund houses signals rising investor confidence in Indian MF industry.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2103120"/>
            <a:ext cx="4206240" cy="896112"/>
          </a:xfrm>
          <a:prstGeom prst="roundRect">
            <a:avLst>
              <a:gd name="adj" fmla="val 10204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21284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1284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13816" y="21762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1480" y="24505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SIP inflows surged from ₹12,200 Cr (Jan'22) to ₹30,200 Cr (Jan'26) — a 148% jump in 4 years.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00600" y="2103120"/>
            <a:ext cx="4206240" cy="896112"/>
          </a:xfrm>
          <a:prstGeom prst="roundRect">
            <a:avLst>
              <a:gd name="adj" fmla="val 10204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92040" y="221284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21284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294376" y="217627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Dominance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92040" y="245059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schemes hold 85%+ folio share; growth-oriented funds outpace debt across all metrics.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108960"/>
            <a:ext cx="4206240" cy="896112"/>
          </a:xfrm>
          <a:prstGeom prst="roundRect">
            <a:avLst>
              <a:gd name="adj" fmla="val 10204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321868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21868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13816" y="31821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11480" y="34564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26–35 age group contributes 41% of investments — digitally-native cohort is the primary growth engine.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800600" y="3108960"/>
            <a:ext cx="4206240" cy="896112"/>
          </a:xfrm>
          <a:prstGeom prst="roundRect">
            <a:avLst>
              <a:gd name="adj" fmla="val 10204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92040" y="321868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21868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294376" y="318211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892040" y="345643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T30 cities = 66% of SIP flows, but B30 cities growing fast — strong rural penetration opportunity.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0040" y="4114800"/>
            <a:ext cx="4206240" cy="896112"/>
          </a:xfrm>
          <a:prstGeom prst="roundRect">
            <a:avLst>
              <a:gd name="adj" fmla="val 10204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11480" y="42245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11480" y="42245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813816" y="41879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Risk-Adj. Perf.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" y="44622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Ratios up to 1.42; diversified portfolios show superior risk-adjusted returns vs. single-sector.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4114800"/>
            <a:ext cx="4206240" cy="896112"/>
          </a:xfrm>
          <a:prstGeom prst="roundRect">
            <a:avLst>
              <a:gd name="adj" fmla="val 10204"/>
            </a:avLst>
          </a:prstGeom>
          <a:solidFill>
            <a:srgbClr val="1A2E5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892040" y="4224528"/>
            <a:ext cx="329184" cy="237744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92040" y="4224528"/>
            <a:ext cx="329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294376" y="4187952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Drawdown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892040" y="4462272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varies widely (−5% to −53%); diversified funds lose significantly less in corrections.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ROADMAP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1280160"/>
          </a:xfrm>
          <a:prstGeom prst="roundRect">
            <a:avLst>
              <a:gd name="adj" fmla="val 8571"/>
            </a:avLst>
          </a:prstGeom>
          <a:solidFill>
            <a:srgbClr val="0D1B3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78992"/>
            <a:ext cx="804672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200" dirty="0">
                <a:solidFill>
                  <a:srgbClr val="CFF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Bluestock Mutual Fund Analytics Platform successfully combines ETL engineering, EDA, financial performance metrics, and BI dashboarding into a single framework. The platform empowers investors, analysts, and fund managers to make data-driven decisions grounded in both return potential and risk-adjusted evidence.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2423160"/>
            <a:ext cx="27432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587752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5146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Feeds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live AMFI / NSE APIs for up-to-date NAV &amp; inflow data.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64408" y="2423160"/>
            <a:ext cx="27432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2587752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13048" y="25146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Forecasting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401568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for NAV forecasting, SIP trend prediction.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208776" y="2423160"/>
            <a:ext cx="27432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587752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57416" y="2514600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Optimisation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6345936" y="2971800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Frontier, Mean-Variance &amp; Monte Carlo simulations.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320040" y="3721608"/>
            <a:ext cx="27432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86200"/>
            <a:ext cx="329184" cy="32918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38130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Engine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57200" y="427024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fund suggestions by risk profile &amp; horizon.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3264408" y="3721608"/>
            <a:ext cx="27432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886200"/>
            <a:ext cx="329184" cy="329184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813048" y="38130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ETL Refresh</a:t>
            </a:r>
            <a:endParaRPr lang="en-US" sz="1100" dirty="0"/>
          </a:p>
        </p:txBody>
      </p:sp>
      <p:sp>
        <p:nvSpPr>
          <p:cNvPr id="25" name="Text 18"/>
          <p:cNvSpPr/>
          <p:nvPr/>
        </p:nvSpPr>
        <p:spPr>
          <a:xfrm>
            <a:off x="3401568" y="427024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workflows for continuous data pipeline updates.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>
            <a:off x="6208776" y="3721608"/>
            <a:ext cx="2743200" cy="1170432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886200"/>
            <a:ext cx="329184" cy="329184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757416" y="3813048"/>
            <a:ext cx="21031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&amp; Mobile Deployment</a:t>
            </a:r>
            <a:endParaRPr lang="en-US" sz="1100" dirty="0"/>
          </a:p>
        </p:txBody>
      </p:sp>
      <p:sp>
        <p:nvSpPr>
          <p:cNvPr id="29" name="Text 21"/>
          <p:cNvSpPr/>
          <p:nvPr/>
        </p:nvSpPr>
        <p:spPr>
          <a:xfrm>
            <a:off x="6345936" y="4270248"/>
            <a:ext cx="2514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cloud publish + mobile-optimised reports.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Bluestock Mutual Fund Analytics Capstone</dc:title>
  <dc:subject>PptxGenJS Presentation</dc:subject>
  <dc:creator>V. Sai Pardhu</dc:creator>
  <cp:lastModifiedBy>V. Sai Pardhu</cp:lastModifiedBy>
  <cp:revision>1</cp:revision>
  <dcterms:created xsi:type="dcterms:W3CDTF">2026-06-11T08:58:27Z</dcterms:created>
  <dcterms:modified xsi:type="dcterms:W3CDTF">2026-06-11T08:58:27Z</dcterms:modified>
</cp:coreProperties>
</file>